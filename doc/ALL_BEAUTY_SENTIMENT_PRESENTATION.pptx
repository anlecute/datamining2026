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ce3c7f34a4c25" /><Relationship Type="http://schemas.openxmlformats.org/officeDocument/2006/relationships/extended-properties" Target="/docProps/app.xml" Id="Rdf78514575f7460f" /><Relationship Type="http://schemas.openxmlformats.org/officeDocument/2006/relationships/officeDocument" Target="/ppt/presentation.xml" Id="R1482201a86f54e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ce741d76894d97"/>
  </p:sldMasterIdLst>
  <p:notesMasterIdLst>
    <p:notesMasterId xmlns:r="http://schemas.openxmlformats.org/officeDocument/2006/relationships" r:id="R7f848f9239e34d93"/>
  </p:notesMasterIdLst>
  <p:sldIdLst>
    <p:sldId xmlns:r="http://schemas.openxmlformats.org/officeDocument/2006/relationships" id="256" r:id="R3a625e37a7454275"/>
    <p:sldId xmlns:r="http://schemas.openxmlformats.org/officeDocument/2006/relationships" id="257" r:id="R35bf6da604a54713"/>
    <p:sldId xmlns:r="http://schemas.openxmlformats.org/officeDocument/2006/relationships" id="258" r:id="Rb26c133255254d52"/>
    <p:sldId xmlns:r="http://schemas.openxmlformats.org/officeDocument/2006/relationships" id="259" r:id="Rf7b6418a4c744069"/>
    <p:sldId xmlns:r="http://schemas.openxmlformats.org/officeDocument/2006/relationships" id="260" r:id="R9f862e35f00e4d60"/>
    <p:sldId xmlns:r="http://schemas.openxmlformats.org/officeDocument/2006/relationships" id="261" r:id="R24ac8a2c6ee9487d"/>
    <p:sldId xmlns:r="http://schemas.openxmlformats.org/officeDocument/2006/relationships" id="262" r:id="R32edd13a220a422d"/>
    <p:sldId xmlns:r="http://schemas.openxmlformats.org/officeDocument/2006/relationships" id="263" r:id="Reec92c084fea45fc"/>
    <p:sldId xmlns:r="http://schemas.openxmlformats.org/officeDocument/2006/relationships" id="264" r:id="R0187365bf95944f3"/>
    <p:sldId xmlns:r="http://schemas.openxmlformats.org/officeDocument/2006/relationships" id="265" r:id="R24354558c6ac44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b5f0a829ec47d7" /><Relationship Type="http://schemas.openxmlformats.org/officeDocument/2006/relationships/slideMaster" Target="/ppt/slideMasters/slideMaster1.xml" Id="R5dce741d76894d97" /><Relationship Type="http://schemas.openxmlformats.org/officeDocument/2006/relationships/notesMaster" Target="/ppt/notesMasters/notesMaster1.xml" Id="R7f848f9239e34d93" /><Relationship Type="http://schemas.openxmlformats.org/officeDocument/2006/relationships/presProps" Target="/ppt/presProps.xml" Id="Rb604f0ceb4a74b9b" /><Relationship Type="http://schemas.openxmlformats.org/officeDocument/2006/relationships/tableStyles" Target="/ppt/tableStyles.xml" Id="Rf537229e76174a68" /><Relationship Type="http://schemas.openxmlformats.org/officeDocument/2006/relationships/slide" Target="/ppt/slides/slide1.xml" Id="R3a625e37a7454275" /><Relationship Type="http://schemas.openxmlformats.org/officeDocument/2006/relationships/slide" Target="/ppt/slides/slide2.xml" Id="R35bf6da604a54713" /><Relationship Type="http://schemas.openxmlformats.org/officeDocument/2006/relationships/slide" Target="/ppt/slides/slide3.xml" Id="Rb26c133255254d52" /><Relationship Type="http://schemas.openxmlformats.org/officeDocument/2006/relationships/slide" Target="/ppt/slides/slide4.xml" Id="Rf7b6418a4c744069" /><Relationship Type="http://schemas.openxmlformats.org/officeDocument/2006/relationships/slide" Target="/ppt/slides/slide5.xml" Id="R9f862e35f00e4d60" /><Relationship Type="http://schemas.openxmlformats.org/officeDocument/2006/relationships/slide" Target="/ppt/slides/slide6.xml" Id="R24ac8a2c6ee9487d" /><Relationship Type="http://schemas.openxmlformats.org/officeDocument/2006/relationships/slide" Target="/ppt/slides/slide7.xml" Id="R32edd13a220a422d" /><Relationship Type="http://schemas.openxmlformats.org/officeDocument/2006/relationships/slide" Target="/ppt/slides/slide8.xml" Id="Reec92c084fea45fc" /><Relationship Type="http://schemas.openxmlformats.org/officeDocument/2006/relationships/slide" Target="/ppt/slides/slide9.xml" Id="R0187365bf95944f3" /><Relationship Type="http://schemas.openxmlformats.org/officeDocument/2006/relationships/slide" Target="/ppt/slides/slide10.xml" Id="R24354558c6ac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2ebda3a3b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c3a08a2dc45b8" /><Relationship Type="http://schemas.openxmlformats.org/officeDocument/2006/relationships/notesMaster" Target="/ppt/notesMasters/notesMaster1.xml" Id="Rf8ec130a7aa4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1013f9e9904b96" /><Relationship Type="http://schemas.openxmlformats.org/officeDocument/2006/relationships/notesMaster" Target="/ppt/notesMasters/notesMaster1.xml" Id="R67a8b7dff3c6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781e17fc648ba" /><Relationship Type="http://schemas.openxmlformats.org/officeDocument/2006/relationships/notesMaster" Target="/ppt/notesMasters/notesMaster1.xml" Id="Re9995ddd7900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e66a6dd1d24f79" /><Relationship Type="http://schemas.openxmlformats.org/officeDocument/2006/relationships/notesMaster" Target="/ppt/notesMasters/notesMaster1.xml" Id="Rf3675c165f7e4c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a73e9eefb24f55" /><Relationship Type="http://schemas.openxmlformats.org/officeDocument/2006/relationships/notesMaster" Target="/ppt/notesMasters/notesMaster1.xml" Id="R52fb22dc534340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ea70e7210c4ebb" /><Relationship Type="http://schemas.openxmlformats.org/officeDocument/2006/relationships/notesMaster" Target="/ppt/notesMasters/notesMaster1.xml" Id="R9bc3183a5c1549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7c0daf70094821" /><Relationship Type="http://schemas.openxmlformats.org/officeDocument/2006/relationships/notesMaster" Target="/ppt/notesMasters/notesMaster1.xml" Id="R6dc9215c1a9744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22d0a93db94ba2" /><Relationship Type="http://schemas.openxmlformats.org/officeDocument/2006/relationships/notesMaster" Target="/ppt/notesMasters/notesMaster1.xml" Id="R7ac2a2f79ae949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5f02eb97814e88" /><Relationship Type="http://schemas.openxmlformats.org/officeDocument/2006/relationships/notesMaster" Target="/ppt/notesMasters/notesMaster1.xml" Id="Rf1a1d605996848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f1f57378704e11" /><Relationship Type="http://schemas.openxmlformats.org/officeDocument/2006/relationships/notesMaster" Target="/ppt/notesMasters/notesMaster1.xml" Id="Rc098669789ba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Amazon Reviews 2023, category All_Beauty; dữ liệu và các kết quả trong thư mục outputs của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doc/FINAL_REPORT_ALL_BEAUTY.docx, phần 1 và 5.</a:t>
            </a:r>
          </a:p>
          <a:p xmlns:a="http://schemas.openxmlformats.org/drawingml/2006/main">
            <a:r>
              <a:t>Điểm cần nhấn mạnh: rating sinh label, không phải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data/interim/raw_data_audit.json.</a:t>
            </a:r>
          </a:p>
          <a:p xmlns:a="http://schemas.openxmlformats.org/drawingml/2006/main">
            <a:r>
              <a:t>Quy tắc theo thứ tự: blank, valid JSON object, rating 1-5, title/text không cùng rỗng, exact duplicate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outputs/metrics/eda_summary.json.</a:t>
            </a:r>
          </a:p>
          <a:p xmlns:a="http://schemas.openxmlformats.org/drawingml/2006/main">
            <a:r>
              <a:t>Tỷ lệ lớp: Negative 20,6681%, Neutral 8,0259%, Positive 71,3060%.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outputs/metrics/eda_summary.json.</a:t>
            </a:r>
          </a:p>
          <a:p xmlns:a="http://schemas.openxmlformats.org/drawingml/2006/main">
            <a:r>
              <a:t>Mean/median theo lớp: Negative 36,36/25; Neutral 43,58/30; Positive 35,98/22.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src/train_models.py và outputs/metrics/experiment_configuration.json.</a:t>
            </a:r>
          </a:p>
          <a:p xmlns:a="http://schemas.openxmlformats.org/drawingml/2006/main">
            <a:r>
              <a:t>TF-IDF chỉ fit trên train; validation/test chỉ transform.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outputs/metrics/model_comparison.csv và src/train_models.py.</a:t>
            </a:r>
          </a:p>
          <a:p xmlns:a="http://schemas.openxmlformats.org/drawingml/2006/main">
            <a:r>
              <a:t>Baseline metrics: Dummy 0,2771; NB 0,6266; LR 0,7406; SVM 0,7353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outputs/metrics/tuning_final_test_result.json và outputs/figures/tuning_confusion_matrix_best_model.png.</a:t>
            </a:r>
          </a:p>
          <a:p xmlns:a="http://schemas.openxmlformats.org/drawingml/2006/main">
            <a:r>
              <a:t>Validation chọn Linear SVM C=0,5 với Macro F1=0,731177; final held-out test Macro F1=0,743034.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outputs/metrics/error_analysis_summary.json và doc/REPORT_PHASE_4_PHAN_TICH_LOI.md.</a:t>
            </a:r>
          </a:p>
          <a:p xmlns:a="http://schemas.openxmlformats.org/drawingml/2006/main">
            <a:r>
              <a:t>Phân tích lỗi là Logistic Regression baseline trên 10.000 dự đoán để đọc được text gốc và rating.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outputs/metrics/tuning_final_test_result.json và doc/FINAL_REPORT_ALL_BEAUTY.docx.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88412d47e49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10f8bdeed49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89efa51c249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21d37a081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299ad381e43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3a61c33ee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17647-FDD2-4A7C-9F89-9A99412C0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E52C68-080B-45AC-8D38-299E6D37EF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F45AF4-4C82-449B-8C79-B8BBE3DC0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56CD49-2EA4-455F-8A48-5E178DEE0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503CD5-30BF-4DBD-ABC3-353D8ED97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A2399F-31AE-4E09-BDAB-CA72309E0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C75657-1A95-4B6C-A324-8B73FB58D6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DF8715-7655-4485-88DF-25EAE8E9E1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04971D-5424-4AA7-8544-6FA41EBC17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A68667-6742-4081-B7FA-C8E7A6C69A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a8a1160044ded" /><Relationship Type="http://schemas.openxmlformats.org/officeDocument/2006/relationships/slideLayout" Target="/ppt/slideLayouts/slideLayout1.xml" Id="R3d926ad41b974e90" /><Relationship Type="http://schemas.openxmlformats.org/officeDocument/2006/relationships/slideLayout" Target="/ppt/slideLayouts/slideLayout2.xml" Id="Rdd82657cceef4654" /><Relationship Type="http://schemas.openxmlformats.org/officeDocument/2006/relationships/slideLayout" Target="/ppt/slideLayouts/slideLayout3.xml" Id="R962079d1ac94472f" /><Relationship Type="http://schemas.openxmlformats.org/officeDocument/2006/relationships/slideLayout" Target="/ppt/slideLayouts/slideLayout4.xml" Id="R7d9faa2f22414c7f" /><Relationship Type="http://schemas.openxmlformats.org/officeDocument/2006/relationships/slideLayout" Target="/ppt/slideLayouts/slideLayout5.xml" Id="R4d2587bd2da54671" /><Relationship Type="http://schemas.openxmlformats.org/officeDocument/2006/relationships/slideLayout" Target="/ppt/slideLayouts/slideLayout6.xml" Id="R478c92cb359f45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26ad41b974e90"/>
    <p:sldLayoutId xmlns:r="http://schemas.openxmlformats.org/officeDocument/2006/relationships" id="2147483650" r:id="Rdd82657cceef4654"/>
    <p:sldLayoutId xmlns:r="http://schemas.openxmlformats.org/officeDocument/2006/relationships" id="2147483651" r:id="R962079d1ac94472f"/>
    <p:sldLayoutId xmlns:r="http://schemas.openxmlformats.org/officeDocument/2006/relationships" id="2147483652" r:id="R7d9faa2f22414c7f"/>
    <p:sldLayoutId xmlns:r="http://schemas.openxmlformats.org/officeDocument/2006/relationships" id="2147483653" r:id="R4d2587bd2da54671"/>
    <p:sldLayoutId xmlns:r="http://schemas.openxmlformats.org/officeDocument/2006/relationships" id="2147483654" r:id="R478c92cb359f45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7e081b3eb4472" /><Relationship Type="http://schemas.openxmlformats.org/officeDocument/2006/relationships/notesSlide" Target="/ppt/notesSlides/notesSlide1.xml" Id="R87d501927a71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d8e1a67e24c8d" /><Relationship Type="http://schemas.openxmlformats.org/officeDocument/2006/relationships/notesSlide" Target="/ppt/notesSlides/notesSlide2.xml" Id="R7974ee1e8d49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93cb9f78d4736" /><Relationship Type="http://schemas.openxmlformats.org/officeDocument/2006/relationships/notesSlide" Target="/ppt/notesSlides/notesSlide3.xml" Id="R32ac6251cd024c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f0bc3a46b472c" /><Relationship Type="http://schemas.openxmlformats.org/officeDocument/2006/relationships/chart" Target="/ppt/slides/charts/chart1.xml" Id="R5bf6249f4583452f" /><Relationship Type="http://schemas.openxmlformats.org/officeDocument/2006/relationships/chart" Target="/ppt/slides/charts/chart2.xml" Id="Ra83afd8726b54bf3" /><Relationship Type="http://schemas.openxmlformats.org/officeDocument/2006/relationships/notesSlide" Target="/ppt/notesSlides/notesSlide4.xml" Id="R5f1b98573adf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7036ea92b4664" /><Relationship Type="http://schemas.openxmlformats.org/officeDocument/2006/relationships/chart" Target="/ppt/slides/charts/chart3.xml" Id="R5939c6328a374c78" /><Relationship Type="http://schemas.openxmlformats.org/officeDocument/2006/relationships/notesSlide" Target="/ppt/notesSlides/notesSlide5.xml" Id="Rb29f831bb5c4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77332a3e74ed7" /><Relationship Type="http://schemas.openxmlformats.org/officeDocument/2006/relationships/notesSlide" Target="/ppt/notesSlides/notesSlide6.xml" Id="Rdfe571c961cb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cc2cd3faf4d0b" /><Relationship Type="http://schemas.openxmlformats.org/officeDocument/2006/relationships/chart" Target="/ppt/slides/charts/chart4.xml" Id="R53272b72f9004236" /><Relationship Type="http://schemas.openxmlformats.org/officeDocument/2006/relationships/notesSlide" Target="/ppt/notesSlides/notesSlide7.xml" Id="R61592a4edd92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a7243543c470a" /><Relationship Type="http://schemas.openxmlformats.org/officeDocument/2006/relationships/image" Target="/ppt/media/image.png" Id="Rc921801eaa054121" /><Relationship Type="http://schemas.openxmlformats.org/officeDocument/2006/relationships/notesSlide" Target="/ppt/notesSlides/notesSlide8.xml" Id="Re2816ff0142a49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fa2662a7746d7" /><Relationship Type="http://schemas.openxmlformats.org/officeDocument/2006/relationships/chart" Target="/ppt/slides/charts/chart5.xml" Id="Rb68dacf6f8514b97" /><Relationship Type="http://schemas.openxmlformats.org/officeDocument/2006/relationships/notesSlide" Target="/ppt/notesSlides/notesSlide9.xml" Id="R90210c8a09774d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0a4033caf444c" /><Relationship Type="http://schemas.openxmlformats.org/officeDocument/2006/relationships/notesSlide" Target="/ppt/notesSlides/notesSlide10.xml" Id="Rc017d436cc3d4a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</c:v>
          </c:tx>
          <c:spPr>
            <a:solidFill xmlns:a="http://schemas.openxmlformats.org/drawingml/2006/main">
              <a:srgbClr val="1F4E79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100888</c:v>
                </c:pt>
                <c:pt idx="1">
                  <c:v>42601</c:v>
                </c:pt>
                <c:pt idx="2">
                  <c:v>55720</c:v>
                </c:pt>
                <c:pt idx="3">
                  <c:v>78608</c:v>
                </c:pt>
                <c:pt idx="4">
                  <c:v>416436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Rating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Số review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573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Tỷ lệ</c:v>
          </c:tx>
          <c:spPr>
            <a:solidFill xmlns:a="http://schemas.openxmlformats.org/drawingml/2006/main">
              <a:srgbClr val="3B9B9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55E5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5A9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E9D55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20.6681</c:v>
                </c:pt>
                <c:pt idx="1">
                  <c:v>8.0259</c:v>
                </c:pt>
                <c:pt idx="2">
                  <c:v>71.306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5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% review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573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words</c:v>
          </c:tx>
          <c:spPr>
            <a:solidFill xmlns:a="http://schemas.openxmlformats.org/drawingml/2006/main">
              <a:srgbClr val="1F4E7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36.36</c:v>
                </c:pt>
                <c:pt idx="1">
                  <c:v>43.58</c:v>
                </c:pt>
                <c:pt idx="2">
                  <c:v>35.98</c:v>
                </c:pt>
              </c:numCache>
            </c:numRef>
          </c:val>
        </c:ser>
        <c:ser>
          <c:idx val="1"/>
          <c:order val="1"/>
          <c:tx>
            <c:v>Median words</c:v>
          </c:tx>
          <c:spPr>
            <a:solidFill xmlns:a="http://schemas.openxmlformats.org/drawingml/2006/main">
              <a:srgbClr val="9DC3E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22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Số từ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573"/>
                </a:solidFill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573"/>
              </a:solidFill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F4E7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4A3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0A1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E9D5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B9B9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Dummy</c:v>
                </c:pt>
                <c:pt idx="1">
                  <c:v>Naive Bayes</c:v>
                </c:pt>
                <c:pt idx="2">
                  <c:v>Logistic Regression</c:v>
                </c:pt>
                <c:pt idx="3">
                  <c:v>Linear SVM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0.2771</c:v>
                </c:pt>
                <c:pt idx="1">
                  <c:v>0.6266</c:v>
                </c:pt>
                <c:pt idx="2">
                  <c:v>0.7406</c:v>
                </c:pt>
                <c:pt idx="3">
                  <c:v>0.7353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5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lỗi</c:v>
          </c:tx>
          <c:spPr>
            <a:solidFill xmlns:a="http://schemas.openxmlformats.org/drawingml/2006/main">
              <a:srgbClr val="3B9B9A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Positive → Neutral</c:v>
                </c:pt>
                <c:pt idx="1">
                  <c:v>Negative → Neutral</c:v>
                </c:pt>
                <c:pt idx="2">
                  <c:v>Neutral → Negative</c:v>
                </c:pt>
                <c:pt idx="3">
                  <c:v>Positive → Negative</c:v>
                </c:pt>
                <c:pt idx="4">
                  <c:v>Neutral → Positive</c:v>
                </c:pt>
                <c:pt idx="5">
                  <c:v>Negative → Positive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481</c:v>
                </c:pt>
                <c:pt idx="1">
                  <c:v>278</c:v>
                </c:pt>
                <c:pt idx="2">
                  <c:v>209</c:v>
                </c:pt>
                <c:pt idx="3">
                  <c:v>188</c:v>
                </c:pt>
                <c:pt idx="4">
                  <c:v>128</c:v>
                </c:pt>
                <c:pt idx="5">
                  <c:v>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5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37E34-FA34-41FF-8928-3687EEF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LOẠI CẢM XÚC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 SẢN PHẨM AMAZON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E2B7-0D76-4F5E-8CAB-D7C7AA3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9EAF7"/>
                </a:solidFill>
                <a:latin typeface="Arial"/>
                <a:ea typeface="Arial"/>
                <a:cs typeface="Arial"/>
              </a:rPr>
              <a:t>All_Beauty User Reviews  |  Data Mining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E6EA4-BE35-4D34-8F54-3F97689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tiêu: dự đoán Negative, Neutral hoặc Positive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title + text của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0F6F0-0518-4FB0-A8CA-8E2111F9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04925"/>
            <a:ext cx="20193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28567F"/>
          </a:solidFill>
          <a:ln xmlns:a="http://schemas.openxmlformats.org/drawingml/2006/main" w="0">
            <a:solidFill>
              <a:srgbClr val="2856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A1553-0FC3-44CC-8BBE-7CF7F71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669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694.253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sạch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35B33-3A0D-474D-BDC9-322349D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D9EAF7"/>
                </a:solidFill>
                <a:latin typeface="Arial"/>
                <a:ea typeface="Arial"/>
                <a:cs typeface="Arial"/>
              </a:rPr>
              <a:t>An Le  |  17/10/2026</a:t>
            </a:r>
          </a:p>
        </p:txBody>
      </p:sp>
    </p:spTree>
    <p:extLst>
      <p:ext uri="{BB962C8B-B14F-4D97-AF65-F5344CB8AC3E}">
        <p14:creationId xmlns:p14="http://schemas.microsoft.com/office/powerpoint/2010/main" val="573361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B4F3B-80DE-45A2-A81B-FDBC344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Bài toán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A16E0-72F5-402E-BF31-0CA0D7F8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Dự đoán cảm xúc từ văn bản review, không dùng rating làm feature.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67671-B3FE-45DA-9710-9B77AB4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B0DC6-BC41-46A9-939C-4E259AE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2816F-A459-43B5-9A4E-51D25576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title + text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→ review_text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19B8A-113C-430A-ABC8-FE79494C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96DBF-868B-4580-AA8C-7EB83044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TF-IDF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+ mô hình tuyến tính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0C686-D755-43A6-828D-763EC69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7F8DA-7912-4E35-865D-0EEC8D8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Negative</a:t>
            </a:r>
          </a:p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Neutral</a:t>
            </a:r>
          </a:p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3FFD8-2128-47CF-8E29-28355C0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573"/>
                </a:solidFill>
                <a:latin typeface="Arial"/>
                <a:ea typeface="Arial"/>
                <a:cs typeface="Arial"/>
              </a:rPr>
              <a:t>rating chỉ tạo nhãn: 1-2 → Negative, 3 → Neutral, 4-5 → 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957B9-75B1-484B-920C-AE312FCE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577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Không đưa rating vào input để tránh data leakage.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CA465-D238-4A6C-9B6D-8081F47A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2/10</a:t>
            </a:r>
          </a:p>
        </p:txBody>
      </p:sp>
    </p:spTree>
    <p:extLst>
      <p:ext uri="{BB962C8B-B14F-4D97-AF65-F5344CB8AC3E}">
        <p14:creationId xmlns:p14="http://schemas.microsoft.com/office/powerpoint/2010/main" val="681175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7A7E5-A7C7-4783-A170-254151F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Tiền xử lý có thể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8699E-A2EA-4ABE-B215-707B4E1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Chỉ loại dữ liệu theo quy tắc rõ ràng; không loại review nếu chỉ title hoặc text rỗng.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E0EA8-6551-4917-94CB-844D0BA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1BF84-BEEF-4EF1-84E8-8302983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C36B3-40FE-41DB-8150-F8AA14F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BE9E1-0FCA-4D25-AA61-D4A411B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Audit 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6A2B6-9FF2-45B0-8C2A-330F192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573"/>
                </a:solidFill>
                <a:latin typeface="Arial"/>
                <a:ea typeface="Arial"/>
                <a:cs typeface="Arial"/>
              </a:rPr>
              <a:t>701.528 dòng JSONL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FD71A-D45C-4F10-8AD1-BA7680D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CBCF-ABDE-46A7-A600-35DFE33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6F3BA-4329-4AE6-83DD-61FE9ED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Làm sạch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77B55-2248-4B8F-B191-C4EAD4B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573"/>
                </a:solidFill>
                <a:latin typeface="Arial"/>
                <a:ea typeface="Arial"/>
                <a:cs typeface="Arial"/>
              </a:rPr>
              <a:t>Kiểm tra JSON, rating,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03977-29AD-4F35-BFB5-F80D4D69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71750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0BD65-8933-4219-BDA8-F41B59F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1909E-2F3C-4D53-BC86-5E6B2542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AC8FC-B946-48CA-9320-464313C7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573"/>
                </a:solidFill>
                <a:latin typeface="Arial"/>
                <a:ea typeface="Arial"/>
                <a:cs typeface="Arial"/>
              </a:rPr>
              <a:t>Loại exact JSON duplicate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4AF2D-7126-416E-99C2-0AD7469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A8293-686F-47C5-A68C-907995E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DA748-170D-472B-9B35-6C6D7870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Tạo feature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AA6CD-95E9-4D48-9F32-6181C1AC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573"/>
                </a:solidFill>
                <a:latin typeface="Arial"/>
                <a:ea typeface="Arial"/>
                <a:cs typeface="Arial"/>
              </a:rPr>
              <a:t>review_text + sentiment_class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61C87-0B88-478E-B68E-1E97292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577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Kết quả: 694.253 record được giữ lại; 7.275 duplicate bị loại; các lý do khác = 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38C4E-393A-4FC8-BA6C-CD215173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Bằng chứng: raw_data_audit.json và preprocessing_stats.json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61091-A6F3-44DD-8BF8-24C5C34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3/10</a:t>
            </a:r>
          </a:p>
        </p:txBody>
      </p:sp>
    </p:spTree>
    <p:extLst>
      <p:ext uri="{BB962C8B-B14F-4D97-AF65-F5344CB8AC3E}">
        <p14:creationId xmlns:p14="http://schemas.microsoft.com/office/powerpoint/2010/main" val="713898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4CB71-E528-45B3-9E28-ECBFB9E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EDA: phân bố rating và nhãn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0FFE7-2A13-4156-BDB5-346B557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Lớp Positive chiếm đa số, nên Accuracy không đủ để đánh giá công bằng.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727A-8437-4A7A-BB7A-9C5CAC3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C1796C-14E4-479B-84CB-476109EC669E}"/>
              </a:ext>
            </a:extLst>
          </p:cNvPr>
          <p:cNvGraphicFramePr/>
          <p:nvPr/>
        </p:nvGraphicFramePr>
        <p:xfrm>
          <a:off xmlns:a="http://schemas.openxmlformats.org/drawingml/2006/main" x="904875" y="1524000"/>
          <a:ext xmlns:a="http://schemas.openxmlformats.org/drawingml/2006/main" cx="5048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f6249f4583452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5A9BDCC-D79E-40B3-BBAC-954036F93B17}"/>
              </a:ext>
            </a:extLst>
          </p:cNvPr>
          <p:cNvGraphicFramePr/>
          <p:nvPr/>
        </p:nvGraphicFramePr>
        <p:xfrm>
          <a:off xmlns:a="http://schemas.openxmlformats.org/drawingml/2006/main" x="6429375" y="1524000"/>
          <a:ext xmlns:a="http://schemas.openxmlformats.org/drawingml/2006/main" cx="4857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3afd8726b54bf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D946F-0EF2-4258-8CE3-31707DE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 sao: 416.436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BE6C-C4E4-4B1E-BCD1-D349D3D4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Positive: 71,31%  |  Neutral: 8,03%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96254-169F-4691-A76C-02431661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4/10</a:t>
            </a:r>
          </a:p>
        </p:txBody>
      </p:sp>
    </p:spTree>
    <p:extLst>
      <p:ext uri="{BB962C8B-B14F-4D97-AF65-F5344CB8AC3E}">
        <p14:creationId xmlns:p14="http://schemas.microsoft.com/office/powerpoint/2010/main" val="195382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A9A10-B197-4DEA-8125-9B380B8F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EDA: độ dài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65833-0E4F-4200-A399-9434E42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Review Neutral dài hơn; đây là một dấu hiệu phù hợp với nội dung pha trộn.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86569-88F7-4D7A-A290-F090211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46A5B5F-28C0-43B7-983F-85BA81BB8D1E}"/>
              </a:ext>
            </a:extLst>
          </p:cNvPr>
          <p:cNvGraphicFramePr/>
          <p:nvPr/>
        </p:nvGraphicFramePr>
        <p:xfrm>
          <a:off xmlns:a="http://schemas.openxmlformats.org/drawingml/2006/main" x="1428750" y="1619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39c6328a374c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10F66-EAE8-45AE-B104-F6FB3DE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476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C3255-55C5-48BC-A64B-3BDC3675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Toàn bộ 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FD890-2581-4BCE-B627-696F3179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33"/>
                </a:solidFill>
                <a:latin typeface="Arial"/>
                <a:ea typeface="Arial"/>
                <a:cs typeface="Arial"/>
              </a:rPr>
              <a:t>Mean: 36,67 từ</a:t>
            </a:r>
          </a:p>
          <a:p xmlns:a="http://schemas.openxmlformats.org/drawingml/2006/main">
            <a:pPr algn="ctr"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33"/>
                </a:solidFill>
                <a:latin typeface="Arial"/>
                <a:ea typeface="Arial"/>
                <a:cs typeface="Arial"/>
              </a:rPr>
              <a:t>Median: 23 từ</a:t>
            </a:r>
          </a:p>
          <a:p xmlns:a="http://schemas.openxmlformats.org/drawingml/2006/main">
            <a:pPr algn="ctr"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33"/>
                </a:solidFill>
                <a:latin typeface="Arial"/>
                <a:ea typeface="Arial"/>
                <a:cs typeface="Arial"/>
              </a:rPr>
              <a:t>P95: 112 từ</a:t>
            </a:r>
          </a:p>
          <a:p xmlns:a="http://schemas.openxmlformats.org/drawingml/2006/main">
            <a:pPr algn="ctr"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033"/>
                </a:solidFill>
                <a:latin typeface="Arial"/>
                <a:ea typeface="Arial"/>
                <a:cs typeface="Arial"/>
              </a:rPr>
              <a:t>Max: 2.594 từ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09A5-1A0B-48E7-8A7B-B6798F33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19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Hàm ý: Neutral cần được đánh giá riêng, không để lớp Positive áp đảo metric.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06039-1E8F-4149-A8C1-2285848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5/10</a:t>
            </a:r>
          </a:p>
        </p:txBody>
      </p:sp>
    </p:spTree>
    <p:extLst>
      <p:ext uri="{BB962C8B-B14F-4D97-AF65-F5344CB8AC3E}">
        <p14:creationId xmlns:p14="http://schemas.microsoft.com/office/powerpoint/2010/main" val="53082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A184E-DC88-4241-80EC-828B7222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Phương pháp mô hình hóa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8326-D24F-44A0-87B3-45D2036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Thiết kế hướng đến tái lập và chống data leakage.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F1081-1F97-4C72-A230-5ABBE47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FEC7-2473-4750-81F6-EC3C8CF2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D6D4C-A26E-4AF7-B269-FF646107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81250"/>
            <a:ext cx="1609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50.000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EB9FE-8CF6-4C95-986C-F02E39A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527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random_state =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38201-C6BC-488D-B690-AC67A135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FCA33-7FC3-4385-9BD4-9AA113CF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1609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80 / 20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E9657-30CE-4E90-AF2D-E07A9A72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stratified; 40k train / 10k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102BA-E004-4A19-B7DE-20FAA42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D87E-9FA4-4261-8F39-573B80E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81250"/>
            <a:ext cx="1609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CFDB9-D64E-4409-A321-477E3EA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unigram + bigram; fit train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BFDEF-A85C-40D8-9B55-33934A6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69A7D-22F4-466F-AF53-576B7F1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609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408BF-5E53-409C-B7BB-460DB9D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Dummy, NB, LR, Linear SVM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D6190-DF64-4065-86C1-842B1FD5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Metric chính: Macro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34262-D783-4F6A-B64C-AD5E44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573"/>
                </a:solidFill>
                <a:latin typeface="Arial"/>
                <a:ea typeface="Arial"/>
                <a:cs typeface="Arial"/>
              </a:rPr>
              <a:t>Lý do: tính F1 trung bình cho từng lớp, phù hợp khi Positive 71,31% còn Neutral chỉ 8,03%.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7822B-7ACD-4219-A414-9856C71B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6/10</a:t>
            </a:r>
          </a:p>
        </p:txBody>
      </p:sp>
    </p:spTree>
    <p:extLst>
      <p:ext uri="{BB962C8B-B14F-4D97-AF65-F5344CB8AC3E}">
        <p14:creationId xmlns:p14="http://schemas.microsoft.com/office/powerpoint/2010/main" val="340257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A63C-6D1E-48C4-84D1-CDE8E05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Baseline: mô hình tuyến tính vượt Dummy rõ rệt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8E50B-B9EA-40C8-9C06-6963EB9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Logistic Regression có Macro F1 cao nhất ở baseline; Linear SVM có Accuracy cao nhất.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91877-436D-455D-BF7B-02430B2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A603A12-8ED2-4051-A999-D3C1796246F2}"/>
              </a:ext>
            </a:extLst>
          </p:cNvPr>
          <p:cNvGraphicFramePr/>
          <p:nvPr/>
        </p:nvGraphicFramePr>
        <p:xfrm>
          <a:off xmlns:a="http://schemas.openxmlformats.org/drawingml/2006/main" x="1190625" y="157162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272b72f90042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00AFC-687D-4592-8952-A06B4AA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242D1-AC03-4CAB-9834-0B2BA8C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Baseline chọn LR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2BEF-16B2-42B3-86D2-CC11F1F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4E9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4E9D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9D55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ctr">
              <a:defRPr sz="2025" b="1">
                <a:solidFill>
                  <a:srgbClr val="4E9D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9D55"/>
                </a:solidFill>
                <a:latin typeface="Arial"/>
                <a:ea typeface="Arial"/>
                <a:cs typeface="Arial"/>
              </a:rPr>
              <a:t>0,7406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0C79-9D3B-4CC3-B79F-ECB9422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007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573"/>
                </a:solidFill>
                <a:latin typeface="Arial"/>
                <a:ea typeface="Arial"/>
                <a:cs typeface="Arial"/>
              </a:rPr>
              <a:t>Nhưng đây chưa phải cấu hình cuối cùng.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7C132-ADE0-4CA2-98E8-AD1AA0A8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7/10</a:t>
            </a:r>
          </a:p>
        </p:txBody>
      </p:sp>
    </p:spTree>
    <p:extLst>
      <p:ext uri="{BB962C8B-B14F-4D97-AF65-F5344CB8AC3E}">
        <p14:creationId xmlns:p14="http://schemas.microsoft.com/office/powerpoint/2010/main" val="377942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695C5-52B3-4E8F-9998-55D15A61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Kết quả cuối: Linear SVM sau tuning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B331-398E-46D0-A0EA-720E4D9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Test set 10.000 review được giữ riêng đến khi chọn xong cấu hình.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85EB-1E84-406B-B3A8-DBD9B1A8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48AFF-FB51-447C-8933-E9D557955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1801eaa054121"/>
          <a:stretch xmlns:a="http://schemas.openxmlformats.org/drawingml/2006/main"/>
        </p:blipFill>
        <p:spPr>
          <a:xfrm xmlns:a="http://schemas.openxmlformats.org/drawingml/2006/main">
            <a:off x="1150948" y="1390650"/>
            <a:ext cx="4556103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D746-D032-4C52-B721-FECF4E87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52575"/>
            <a:ext cx="39052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solidFill>
              <a:srgbClr val="EE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53F33-8E73-4840-84B3-8FBD0ECB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76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Cấu hình được chọn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C932D-9EB5-4E40-AA2E-CE7A484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Linear SVM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TF-IDF (1,2), 20.000 feature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class_weight=balanced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 = 0,5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743B8-BAC0-4151-A035-972DC8E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242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573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AC75B-4623-435E-93F7-4B1457B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4E9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4E9D5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E9D55"/>
                </a:solidFill>
                <a:latin typeface="Arial"/>
                <a:ea typeface="Arial"/>
                <a:cs typeface="Arial"/>
              </a:rPr>
              <a:t>0,7430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7A5A3-CDF6-4264-955B-D1E9C02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242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573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40A9-62E1-4698-A17F-666B8F5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0,8854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DB129-0E21-4232-86E9-D5E5F52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Neutral F1 = 0,4514: lớp khó nhất.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0963-007E-42FC-B082-60D3BF9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8/10</a:t>
            </a:r>
          </a:p>
        </p:txBody>
      </p:sp>
    </p:spTree>
    <p:extLst>
      <p:ext uri="{BB962C8B-B14F-4D97-AF65-F5344CB8AC3E}">
        <p14:creationId xmlns:p14="http://schemas.microsoft.com/office/powerpoint/2010/main" val="40493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A1C93-183E-49EB-B2A5-B44CA09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Phân tích lỗi và 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7FD4A-BBD8-4539-8480-383F83F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Nhiều lỗi nhất đều liên quan tới Neutral, nơi review thường mơ hồ hoặc pha trộn cảm xúc.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0E8B2-AFF0-401F-8D3D-8F9BA09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A5A550F-946A-4C27-A7BF-92FE5432934B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5238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8dacf6f8514b9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A53F6-CC50-4D39-9C18-B6C7B58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 nhóm nguyên nhân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D29FB-2EB4-4BFD-B817-147EDFB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1. Review 3 sao vừa khen vừa chê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2EF9B-5CD7-4036-8FB7-2D5C1BC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2. Câu quá ngắn, thiếu ngữ cảnh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07624-A35C-4FA8-AD08-096B883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4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3. Phủ định / tương phản: not good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506D-3017-4173-A2D4-1265EED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4. Rating và câu viết không khớp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B9345-A4BC-45E1-A0CB-78AB2647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86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5. Review thiên về thông tin sản phẩm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01D62-161F-4A24-B4D8-D4180B22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Giới hạn: nhãn được suy ra từ rating, không phải nhãn cảm xúc do con người gán trực tiếp.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1FA7A-2BF6-408E-832C-E2A6D8FA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75">
                <a:solidFill>
                  <a:srgbClr val="7A879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8798"/>
                </a:solidFill>
                <a:latin typeface="Arial"/>
                <a:ea typeface="Arial"/>
                <a:cs typeface="Arial"/>
              </a:rPr>
              <a:t>All_Beauty sentiment classification  |  9/10</a:t>
            </a:r>
          </a:p>
        </p:txBody>
      </p:sp>
    </p:spTree>
    <p:extLst>
      <p:ext uri="{BB962C8B-B14F-4D97-AF65-F5344CB8AC3E}">
        <p14:creationId xmlns:p14="http://schemas.microsoft.com/office/powerpoint/2010/main" val="1440525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85EC2-ADF8-420F-8BDD-462277C9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62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03E02-856C-43AB-9357-E5FFEA84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57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9EAF7"/>
                </a:solidFill>
                <a:latin typeface="Arial"/>
                <a:ea typeface="Arial"/>
                <a:cs typeface="Arial"/>
              </a:rPr>
              <a:t>Pipeline đã hoàn chỉnh: audit → cleaning → EDA → baseline → tuning → error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4FE8F-F540-4509-8D77-8BA2567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0,7430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7BE8D-5F4B-47E9-9395-9AD1FB1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Macro F1 final</a:t>
            </a:r>
          </a:p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(held-out test)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C13D-9DB7-4024-9038-3734893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0,8854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EE6A1-6890-4E95-A35A-4080001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Accuracy final</a:t>
            </a:r>
          </a:p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(held-out test)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DC26C-16B2-4F58-AA85-3497DB09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F3D2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3D2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D261"/>
                </a:solidFill>
                <a:latin typeface="Arial"/>
                <a:ea typeface="Arial"/>
                <a:cs typeface="Arial"/>
              </a:rPr>
              <a:t>0,4514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96145-0732-4452-AA7D-196E4AF3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Neutral F1</a:t>
            </a:r>
          </a:p>
          <a:p xmlns:a="http://schemas.openxmlformats.org/drawingml/2006/main">
            <a:pPr algn="ctr">
              <a:defRPr sz="975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573"/>
                </a:solidFill>
                <a:latin typeface="Arial"/>
                <a:ea typeface="Arial"/>
                <a:cs typeface="Arial"/>
              </a:rPr>
              <a:t>(còn khó)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EEDFF-6549-47B5-9F7C-AD7E774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phát triển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E741-5853-4B48-B778-D089BDAA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D9EAF7"/>
                </a:solidFill>
                <a:latin typeface="Arial"/>
                <a:ea typeface="Arial"/>
                <a:cs typeface="Arial"/>
              </a:rPr>
              <a:t>• train toàn bộ 694.253 review</a:t>
            </a:r>
          </a:p>
          <a:p xmlns:a="http://schemas.openxmlformats.org/drawingml/2006/main">
            <a:pPr>
              <a:defRPr sz="1275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D9EAF7"/>
                </a:solidFill>
                <a:latin typeface="Arial"/>
                <a:ea typeface="Arial"/>
                <a:cs typeface="Arial"/>
              </a:rPr>
              <a:t>• cross-validation trên tập train</a:t>
            </a:r>
          </a:p>
          <a:p xmlns:a="http://schemas.openxmlformats.org/drawingml/2006/main">
            <a:pPr>
              <a:defRPr sz="1275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D9EAF7"/>
                </a:solidFill>
                <a:latin typeface="Arial"/>
                <a:ea typeface="Arial"/>
                <a:cs typeface="Arial"/>
              </a:rPr>
              <a:t>• cải thiện xử lý phủ định và dùng nhãn người gán nếu có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924C4-736B-445B-9E94-FFADD618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</a:t>
            </a:r>
          </a:p>
        </p:txBody>
      </p:sp>
    </p:spTree>
    <p:extLst>
      <p:ext uri="{BB962C8B-B14F-4D97-AF65-F5344CB8AC3E}">
        <p14:creationId xmlns:p14="http://schemas.microsoft.com/office/powerpoint/2010/main" val="54373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2026-10-16T17:40:27.6820000Z</dcterms:created>
  <dcterms:modified xsi:type="dcterms:W3CDTF">2026-10-16T17:40:27.6820000Z</dcterms:modified>
</coreProperties>
</file>